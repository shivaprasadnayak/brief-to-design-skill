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01  /  PROPOSAL · LEADERSHIP REVIEW · OCT 2026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15544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One source of truth for every region</a:t>
            </a:r>
            <a:endParaRPr lang="en-US" sz="5200" dirty="0"/>
          </a:p>
        </p:txBody>
      </p:sp>
      <p:sp>
        <p:nvSpPr>
          <p:cNvPr id="44" name="Text 42"/>
          <p:cNvSpPr/>
          <p:nvPr/>
        </p:nvSpPr>
        <p:spPr>
          <a:xfrm>
            <a:off x="822960" y="3977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Replace 14 regional reporting dashboards with one governed, self-serve analytics platform.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869680" y="1417320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17152" y="1417320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69680" y="1856232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17152" y="1856232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9680" y="2295144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17152" y="2295144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69680" y="2734056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7152" y="2734056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69680" y="3172968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17152" y="3172968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69680" y="3611880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217152" y="3611880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69680" y="4050792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17152" y="4050792"/>
            <a:ext cx="237744" cy="237744"/>
          </a:xfrm>
          <a:prstGeom prst="rect">
            <a:avLst/>
          </a:prstGeom>
          <a:ln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38360" y="2697480"/>
            <a:ext cx="548640" cy="320040"/>
          </a:xfrm>
          <a:prstGeom prst="rightArrow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469880" y="2331720"/>
            <a:ext cx="10058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0469880" y="2331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1</a:t>
            </a:r>
            <a:endParaRPr lang="en-US" sz="4000" dirty="0"/>
          </a:p>
        </p:txBody>
      </p:sp>
      <p:sp>
        <p:nvSpPr>
          <p:cNvPr id="62" name="Text 60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Meridian Freight · Analytics platform proposal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02  /  CURRENT STATE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0E1A3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Same KPI, fourteen different answers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822960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01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2296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91.2%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901952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01952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02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901952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87.5%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2980944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80944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80944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94.0%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059936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59936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059936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89.8%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5138928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8928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05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138928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92.6%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217920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06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17920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85.1%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7296912" y="21488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96912" y="22585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07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296912" y="2697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90.3%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22960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08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2296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93.4%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901952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01952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09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901952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88.0%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2980944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80944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10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980944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91.9%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4059936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59936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11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059936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86.7%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138928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38928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12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138928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95.2%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6217920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0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13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621792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89.1%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7296912" y="3749040"/>
            <a:ext cx="914400" cy="137160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96912" y="3858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14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296912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92.0%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“On-time delivery” as each regional dashboard reports it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8686800" y="2148840"/>
            <a:ext cx="2697480" cy="2971800"/>
          </a:xfrm>
          <a:prstGeom prst="rect">
            <a:avLst/>
          </a:prstGeom>
          <a:solidFill>
            <a:srgbClr val="1C3FAA"/>
          </a:solidFill>
          <a:ln/>
        </p:spPr>
      </p:sp>
      <p:sp>
        <p:nvSpPr>
          <p:cNvPr id="88" name="Text 86"/>
          <p:cNvSpPr/>
          <p:nvPr/>
        </p:nvSpPr>
        <p:spPr>
          <a:xfrm>
            <a:off x="896112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14</a:t>
            </a:r>
            <a:endParaRPr lang="en-US" sz="5400" dirty="0"/>
          </a:p>
        </p:txBody>
      </p:sp>
      <p:sp>
        <p:nvSpPr>
          <p:cNvPr id="89" name="Text 87"/>
          <p:cNvSpPr/>
          <p:nvPr/>
        </p:nvSpPr>
        <p:spPr>
          <a:xfrm>
            <a:off x="896112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definitions of “on time”: cut-off hour, partial loads and holidays all differ.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Illustrative values for the proposal; audit of definitions is phase-1 work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03  /  COST OF THE STATUS QUO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0E1A3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Analysts spend two days a week reconciling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822960" y="21031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0" dirty="0">
                <a:solidFill>
                  <a:srgbClr val="1C3FA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41%</a:t>
            </a:r>
            <a:endParaRPr lang="en-US" sz="13000" dirty="0"/>
          </a:p>
        </p:txBody>
      </p:sp>
      <p:sp>
        <p:nvSpPr>
          <p:cNvPr id="45" name="Text 43"/>
          <p:cNvSpPr/>
          <p:nvPr/>
        </p:nvSpPr>
        <p:spPr>
          <a:xfrm>
            <a:off x="822960" y="4297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of analyst hours go to rebuilding and reconciling regional reports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5778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ANALYST TIME GOES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77840" y="2651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Reconcile &amp; rebuild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589520" y="281178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5DEEE"/>
          </a:solidFill>
          <a:ln/>
        </p:spPr>
      </p:sp>
      <p:sp>
        <p:nvSpPr>
          <p:cNvPr id="49" name="Shape 47"/>
          <p:cNvSpPr/>
          <p:nvPr/>
        </p:nvSpPr>
        <p:spPr>
          <a:xfrm>
            <a:off x="7589520" y="2811780"/>
            <a:ext cx="2399386" cy="274320"/>
          </a:xfrm>
          <a:prstGeom prst="roundRect">
            <a:avLst>
              <a:gd name="adj" fmla="val 50000"/>
            </a:avLst>
          </a:prstGeom>
          <a:solidFill>
            <a:srgbClr val="1C3FAA"/>
          </a:solidFill>
          <a:ln/>
        </p:spPr>
      </p:sp>
      <p:sp>
        <p:nvSpPr>
          <p:cNvPr id="50" name="Text 48"/>
          <p:cNvSpPr/>
          <p:nvPr/>
        </p:nvSpPr>
        <p:spPr>
          <a:xfrm>
            <a:off x="10698480" y="2651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3FA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41%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577840" y="3246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Ad-hoc requests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589520" y="340614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5DEEE"/>
          </a:solidFill>
          <a:ln/>
        </p:spPr>
      </p:sp>
      <p:sp>
        <p:nvSpPr>
          <p:cNvPr id="53" name="Shape 51"/>
          <p:cNvSpPr/>
          <p:nvPr/>
        </p:nvSpPr>
        <p:spPr>
          <a:xfrm>
            <a:off x="7589520" y="3406140"/>
            <a:ext cx="1580083" cy="274320"/>
          </a:xfrm>
          <a:prstGeom prst="roundRect">
            <a:avLst>
              <a:gd name="adj" fmla="val 50000"/>
            </a:avLst>
          </a:prstGeom>
          <a:solidFill>
            <a:srgbClr val="5A78C8">
              <a:alpha val="5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698480" y="3246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27%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577840" y="3840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Analysis &amp; insight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589520" y="400050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5DEEE"/>
          </a:solidFill>
          <a:ln/>
        </p:spPr>
      </p:sp>
      <p:sp>
        <p:nvSpPr>
          <p:cNvPr id="57" name="Shape 55"/>
          <p:cNvSpPr/>
          <p:nvPr/>
        </p:nvSpPr>
        <p:spPr>
          <a:xfrm>
            <a:off x="7589520" y="4000500"/>
            <a:ext cx="1287475" cy="274320"/>
          </a:xfrm>
          <a:prstGeom prst="roundRect">
            <a:avLst>
              <a:gd name="adj" fmla="val 50000"/>
            </a:avLst>
          </a:prstGeom>
          <a:solidFill>
            <a:srgbClr val="5A78C8">
              <a:alpha val="5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698480" y="3840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22%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577840" y="4434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Other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589520" y="459486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5DEEE"/>
          </a:solidFill>
          <a:ln/>
        </p:spPr>
      </p:sp>
      <p:sp>
        <p:nvSpPr>
          <p:cNvPr id="61" name="Shape 59"/>
          <p:cNvSpPr/>
          <p:nvPr/>
        </p:nvSpPr>
        <p:spPr>
          <a:xfrm>
            <a:off x="7589520" y="459486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5A78C8">
              <a:alpha val="5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698480" y="4434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10%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57784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Target after migration: reconciliation under 10%, analysis above 50%.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Illustrative time-split — replace with the Q3 timesheet sample before circulating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04  /  PROPOSED ARCHITECTURE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0E1A3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One governed model, many self-serve views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822960" y="2103120"/>
            <a:ext cx="6583680" cy="1097280"/>
          </a:xfrm>
          <a:prstGeom prst="rect">
            <a:avLst/>
          </a:prstGeom>
          <a:solidFill>
            <a:srgbClr val="EEF3FB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SELF-SERVE LAYER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97280" y="2651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14 regional views + ad-hoc exploration, built by managers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43000" y="3383280"/>
            <a:ext cx="6583680" cy="1097280"/>
          </a:xfrm>
          <a:prstGeom prst="rect">
            <a:avLst/>
          </a:prstGeom>
          <a:solidFill>
            <a:srgbClr val="5A78C8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1732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17320" y="3931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One definition per KPI, owned by central analytics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463040" y="4663440"/>
            <a:ext cx="6583680" cy="1097280"/>
          </a:xfrm>
          <a:prstGeom prst="rect">
            <a:avLst/>
          </a:prstGeom>
          <a:solidFill>
            <a:srgbClr val="1C3FAA"/>
          </a:solidFill>
          <a:ln w="9525">
            <a:solidFill>
              <a:srgbClr val="1C3F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37360" y="4882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737360" y="5212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TMS, WMS, finance and CRM feeds, refreshed hourly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0392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A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What changes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503920" y="2468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KPI logic moves out of 14 dashboards into one model.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50392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A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What stays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850392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Regional teams keep their own views and layouts.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50392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FA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Who owns it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8503920" y="5029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Central analytics owns definitions; regions own questions.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Meridian Freight · Analytics platform proposal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05  /  IMPACT BY ROLE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0E1A3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Every role gets time back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7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7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TODAY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3F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WITH THE PLATFORM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E1A3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Regional managers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A6785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Wait ~3 days for a new cut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3FA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Build it themselves the same day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E1A3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Analysts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A6785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41% of time reconciling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3FA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Time spent on forecasting and pricing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E1A3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Leadership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5A6785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14 versions of each KPI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3FAA"/>
                          </a:solidFill>
                          <a:latin typeface="Franklin Gothic Book" pitchFamily="34" charset="0"/>
                          <a:ea typeface="Franklin Gothic Book" pitchFamily="34" charset="-122"/>
                          <a:cs typeface="Franklin Gothic Book" pitchFamily="34" charset="-120"/>
                        </a:rPr>
                        <a:t>One number per KPI, every region</a:t>
                      </a:r>
                      <a:endParaRPr lang="en-US" sz="1700" dirty="0">
                        <a:latin typeface="Franklin Gothic Book" charset="0"/>
                        <a:ea typeface="Franklin Gothic Book" charset="0"/>
                        <a:cs typeface="Franklin Gothic Book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Meridian Freight · Analytics platform proposal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1C3FAA">
                <a:alpha val="6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06  /  ROLLOUT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0E1A3A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Three phases, legacy retired by Q2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38404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696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2296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1 · Pilot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960" y="28895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2 regions, 12 KPIs defined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840480" y="2651760"/>
            <a:ext cx="2514600" cy="438912"/>
          </a:xfrm>
          <a:prstGeom prst="rect">
            <a:avLst/>
          </a:prstGeom>
          <a:solidFill>
            <a:srgbClr val="1C3FAA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2 · Migrate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22960" y="39410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Remaining 12 regions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852160" y="3703320"/>
            <a:ext cx="3017520" cy="438912"/>
          </a:xfrm>
          <a:prstGeom prst="rect">
            <a:avLst/>
          </a:prstGeom>
          <a:solidFill>
            <a:srgbClr val="5A78C8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3 · Retire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2960" y="49926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Switch off legacy dashboards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869680" y="4754880"/>
            <a:ext cx="2514600" cy="438912"/>
          </a:xfrm>
          <a:prstGeom prst="rect">
            <a:avLst/>
          </a:prstGeom>
          <a:solidFill>
            <a:srgbClr val="0A6F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355080" y="2331720"/>
            <a:ext cx="0" cy="3200400"/>
          </a:xfrm>
          <a:prstGeom prst="line">
            <a:avLst/>
          </a:prstGeom>
          <a:noFill/>
          <a:ln w="12700">
            <a:solidFill>
              <a:srgbClr val="1C3FAA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6428232" y="5394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C3F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/ NO-GO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Meridian Freight · Analytics platform proposal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785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F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 07  /  DECISION NEEDED TODAY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13716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anklin Gothic Demi" pitchFamily="34" charset="0"/>
                <a:ea typeface="Franklin Gothic Demi" pitchFamily="34" charset="-122"/>
                <a:cs typeface="Franklin Gothic Demi" pitchFamily="34" charset="-120"/>
              </a:rPr>
              <a:t>Approve phase 1: a 12-week pilot in two regions</a:t>
            </a:r>
            <a:endParaRPr lang="en-US" sz="4000" dirty="0"/>
          </a:p>
        </p:txBody>
      </p:sp>
      <p:sp>
        <p:nvSpPr>
          <p:cNvPr id="44" name="Shape 42"/>
          <p:cNvSpPr/>
          <p:nvPr/>
        </p:nvSpPr>
        <p:spPr>
          <a:xfrm>
            <a:off x="8229600" y="1417320"/>
            <a:ext cx="31546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1545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One VP to own KPI definitions across regions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0" y="2514600"/>
            <a:ext cx="31546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26426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12480" y="2898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2 analysts + 1 data engineer, 12 weeks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29600" y="3611880"/>
            <a:ext cx="315468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12480" y="3739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D4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3995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North and West as pilot regions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22960" y="39319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Success at week 12: both pilot regions report from the shared model, and their analysts' reconciliation time halves.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Meridian Freight · Analytics platform proposal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4543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4F2"/>
                </a:solidFill>
                <a:latin typeface="Franklin Gothic Book" pitchFamily="34" charset="0"/>
                <a:ea typeface="Franklin Gothic Book" pitchFamily="34" charset="-122"/>
                <a:cs typeface="Franklin Gothic Book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Dem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ranklin Gothic Boo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source of truth for every region</dc:title>
  <dc:subject>PptxGenJS Presentation</dc:subject>
  <dc:creator>Analytics team</dc:creator>
  <cp:lastModifiedBy>Analytics team</cp:lastModifiedBy>
  <cp:revision>1</cp:revision>
  <dcterms:created xsi:type="dcterms:W3CDTF">2026-10-09T05:28:58Z</dcterms:created>
  <dcterms:modified xsi:type="dcterms:W3CDTF">2026-10-09T05:28:58Z</dcterms:modified>
</cp:coreProperties>
</file>